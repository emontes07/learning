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Monthly Commentary - Granite Gloves -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6BB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95959"/>
                </a:solidFill>
              </a:defRPr>
            </a:pPr>
            <a:r>
              <a:t>Training data only - Zava Safety and all businesses and numbers are fictitious.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Sales </a:t>
            </a:r>
            <a:r>
              <a:rPr sz="1400" i="1">
                <a:solidFill>
                  <a:srgbClr val="7F7F7F"/>
                </a:solidFill>
              </a:rPr>
              <a:t>[Sales as % of BUD and % of PY, with the $m drivers]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GM% </a:t>
            </a:r>
            <a:r>
              <a:rPr sz="1400" i="1">
                <a:solidFill>
                  <a:srgbClr val="7F7F7F"/>
                </a:solidFill>
              </a:rPr>
              <a:t>[GM% vs BUD and PY in bps, with drivers]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OpEx% </a:t>
            </a:r>
            <a:r>
              <a:rPr sz="1400" i="1">
                <a:solidFill>
                  <a:srgbClr val="7F7F7F"/>
                </a:solidFill>
              </a:rPr>
              <a:t>[OpEx% vs BUD and PY in bps; call out one-time and timing items]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Capital Employed </a:t>
            </a:r>
            <a:r>
              <a:rPr sz="1400" i="1">
                <a:solidFill>
                  <a:srgbClr val="7F7F7F"/>
                </a:solidFill>
              </a:rPr>
              <a:t>[vs BUD and PY, with drivers]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977639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  <a:gridCol w="1645920"/>
                <a:gridCol w="1645920"/>
                <a:gridCol w="1645920"/>
              </a:tblGrid>
              <a:tr h="326571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September 2026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BUD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PY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Sales ($m)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$4.7m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$5.3m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-0.6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$5.2m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-0.6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-446bps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-471bps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OpEx % of Sales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20.4%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21.0%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-55bps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21.0%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-51bps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$0.2m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$0.5m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$0.5m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5.1%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-391bps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-420bps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Capital Employed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$12.8m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$14.7m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$15.9m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YTD Commentary - Granite Gloves - YTD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6BB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95959"/>
                </a:solidFill>
              </a:defRPr>
            </a:pPr>
            <a:r>
              <a:t>Training data only - Zava Safety and all businesses and numbers are fictitious.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Sales </a:t>
            </a:r>
            <a:r>
              <a:rPr sz="1400" i="1">
                <a:solidFill>
                  <a:srgbClr val="7F7F7F"/>
                </a:solidFill>
              </a:rPr>
              <a:t>[Sales as % of BUD and % of PY, with the $m drivers]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GM% </a:t>
            </a:r>
            <a:r>
              <a:rPr sz="1400" i="1">
                <a:solidFill>
                  <a:srgbClr val="7F7F7F"/>
                </a:solidFill>
              </a:rPr>
              <a:t>[GM% vs BUD and PY in bps, with drivers]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OpEx% </a:t>
            </a:r>
            <a:r>
              <a:rPr sz="1400" i="1">
                <a:solidFill>
                  <a:srgbClr val="7F7F7F"/>
                </a:solidFill>
              </a:rPr>
              <a:t>[OpEx% vs BUD and PY in bps; call out one-time and timing items]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Capital Employed </a:t>
            </a:r>
            <a:r>
              <a:rPr sz="1400" i="1">
                <a:solidFill>
                  <a:srgbClr val="7F7F7F"/>
                </a:solidFill>
              </a:rPr>
              <a:t>[vs BUD and PY, with drivers]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977639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  <a:gridCol w="1645920"/>
                <a:gridCol w="1645920"/>
                <a:gridCol w="1645920"/>
              </a:tblGrid>
              <a:tr h="326571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YTD September 2026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BUD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PY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Sales ($m)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$45.8m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$48.6m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-2.8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$47.3m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-1.5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-175bps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-234bps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OpEx % of Sales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21.0%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+72bps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21.2%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+57bps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$3.0m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$4.4m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6.5%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-248bps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9.4%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-291bps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Capital Employed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$12.8m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$14.7m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$15.9m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