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5852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Sales &amp;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731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September YTD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05840"/>
          <a:ext cx="5852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85800"/>
                <a:gridCol w="685800"/>
                <a:gridCol w="640080"/>
                <a:gridCol w="502920"/>
                <a:gridCol w="685800"/>
                <a:gridCol w="640080"/>
                <a:gridCol w="548640"/>
              </a:tblGrid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$K except as noted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Actual 2026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Budget 2026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Var vs Bud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Actual 2025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Var vs PY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Revenue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45,795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48,588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(2,792)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-5.7%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47,260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(1,464)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-3.1%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Gross margin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12,936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14,576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(1,640)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-11.3%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14,454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(1,517)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-10.5%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GM%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28.2%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30.0%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-1.8%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30.6%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-2.3%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Selling Costs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3,227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3,304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(77)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-2.3%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3,233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(6)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-0.2%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D&amp;W Costs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3,777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3,887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(110)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-2.8%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3,809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(32)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-0.8%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G&amp;A Costs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2,945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3,013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(68)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-2.3%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2,956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(11)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-0.4%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Operating costs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9,950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10,204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(254)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-2.5%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9,998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(48)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-0.5%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PBIT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2,987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4,372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(1,385)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-31.7%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4,456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(1,469)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-33.0%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PBIT 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6.5%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9.0%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-2.5%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9.4%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-2.9%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SPD $'000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254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-15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247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-8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Trading Days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191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191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191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Sales_by_month_($K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114800"/>
            <a:ext cx="5852160" cy="23774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228600"/>
          <a:ext cx="58521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606040"/>
                <a:gridCol w="2606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#1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#2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#3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</a:defRPr>
            </a:pPr>
            <a:r>
              <a:t>Training data only - Zava Safety and all businesses and numbers are fictitious.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5852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822960"/>
          <a:ext cx="5852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786384"/>
                <a:gridCol w="786384"/>
                <a:gridCol w="786384"/>
                <a:gridCol w="786384"/>
                <a:gridCol w="786384"/>
              </a:tblGrid>
              <a:tr h="25321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$K, September YTD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Actual 2026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Budget 2026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Var vs Bud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Actual 2025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Var vs PY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Payroll Exp - Selling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2,033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2,081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(49)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2,038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(5)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Promotional Exp - Selling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253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264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(11)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258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(5)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Selling Costs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3,227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3,304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(77)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3,233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(6)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Payroll Exp - D&amp;W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1,597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1,632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(36)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1,598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(2)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Freight Exp - D&amp;W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908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933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(25)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913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(5)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Occupancy Costs - D&amp;W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536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544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(9)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533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Delivery &amp; Warehouse Costs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3,777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3,887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(110)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3,809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(32)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Payroll Exp - G&amp;A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1,316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1,356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(39)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1,324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(8)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   General Office Exp - G&amp;A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386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392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(6)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388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(2)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G&amp;A Costs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2,945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3,013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(68)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2,956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(11)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Operating costs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9,950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10,204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(254)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9,998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(48)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253224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OpEx % of Sales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21.7%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21.0%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+0.7%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21.2%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+0.6%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OpEx_pct_of_Sales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160520"/>
            <a:ext cx="5852160" cy="23317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228600"/>
          <a:ext cx="58521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46888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Delivery &amp; Warehouse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Selling &amp; G&amp;A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Issue #1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Action #1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Resolution #1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</a:defRPr>
            </a:pPr>
            <a:r>
              <a:t>Training data only - Zava Safety and all businesses and numbers are fictitious.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5852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Working Capital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82296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786384"/>
                <a:gridCol w="786384"/>
                <a:gridCol w="786384"/>
                <a:gridCol w="786384"/>
                <a:gridCol w="786384"/>
              </a:tblGrid>
              <a:tr h="304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$m, September</a:t>
                      </a:r>
                    </a:p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negative variances are adverse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Actual 2026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Budget 2026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Var vs Bud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Actual 2025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Var vs PY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Net Inventories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8.1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9.4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1.3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10.3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Total Receivables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7.1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8.0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8.1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Total Payables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(5.1)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(5.4)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(5.1)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0.0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Net working capital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10.2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12.1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13.2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AR Days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45.5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45.0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-0.5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46.0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0.5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AP Days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43.0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42.0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41.0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Inventory Days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70.2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76.3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6.1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84.4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14.2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WC % of Sales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18.1%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19.0%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+0.9%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21.1%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+2.9%</a:t>
                      </a:r>
                    </a:p>
                  </a:txBody>
                  <a:tcPr marL="45720" marR="45720" marT="18288" marB="18288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WC_pct_of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8600"/>
            <a:ext cx="5852160" cy="33375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3703320"/>
          <a:ext cx="11841477" cy="2788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611879"/>
                <a:gridCol w="3611879"/>
                <a:gridCol w="3611879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 Days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 Days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Inventory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Action #1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Action #2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Action #3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[Headline]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[Two or three sentences with numbers]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</a:defRPr>
            </a:pPr>
            <a:r>
              <a:t>Training data only - Zava Safety and all businesses and numbers are fictitious.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Product Development and Marketing Initiatives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868680"/>
          <a:ext cx="11841480" cy="5577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600700"/>
                <a:gridCol w="56007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 Development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Marketing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1033271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#1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1033271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#2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  <a:tr h="1033271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#3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1033271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#4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  <a:tr h="1033271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#5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</a:defRPr>
            </a:pPr>
            <a:r>
              <a:t>Training data only - Zava Safety and all businesses and numbers are fictitious.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Digital and Technology Initiatives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868680"/>
          <a:ext cx="11841480" cy="5577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600700"/>
                <a:gridCol w="56007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Digital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86105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#1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86105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#2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  <a:tr h="86105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#3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86105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#4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  <a:tr h="86105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#5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86105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#6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</a:defRPr>
            </a:pPr>
            <a:r>
              <a:t>Training data only - Zava Safety and all businesses and numbers are fictitious.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Operations and Inventory Initiatives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868680"/>
          <a:ext cx="11841480" cy="5577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600700"/>
                <a:gridCol w="56007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Inventory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129158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#1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129158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#2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  <a:tr h="129158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#3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129158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#4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</a:defRPr>
            </a:pPr>
            <a:r>
              <a:t>Training data only - Zava Safety and all businesses and numbers are fictitious.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Tariff and Diversification of Supply Chain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868680"/>
          <a:ext cx="11841480" cy="5577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600700"/>
                <a:gridCol w="56007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Tariff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Supply Chain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129158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#1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129158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#2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  <a:tr h="129158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#3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DCE6F1"/>
                    </a:solidFill>
                  </a:tcPr>
                </a:tc>
              </a:tr>
              <a:tr h="129158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#4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[Initiative]</a:t>
                      </a:r>
                    </a:p>
                    <a:p>
                      <a:pPr algn="ctr">
                        <a:defRPr sz="1100" i="1">
                          <a:solidFill>
                            <a:srgbClr val="7F7F7F"/>
                          </a:solidFill>
                        </a:defRPr>
                      </a:pPr>
                      <a:r>
                        <a:t>[Status, numbers and next step]</a:t>
                      </a:r>
                    </a:p>
                  </a:txBody>
                  <a:tcPr marL="45720" marR="45720" marT="18288" marB="18288" anchor="t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</a:defRPr>
            </a:pPr>
            <a:r>
              <a:t>Training data only - Zava Safety and all businesses and numbers are fictitious.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People and Safety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868680"/>
          <a:ext cx="11841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296"/>
                <a:gridCol w="2368296"/>
                <a:gridCol w="2368296"/>
                <a:gridCol w="2368296"/>
                <a:gridCol w="2368296"/>
              </a:tblGrid>
              <a:tr h="1143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Recent / Upcoming Leavers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Recent / Upcoming Starters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Internal Moves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Vacancies Expected to Fill in H2-2026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New Roles Planned for H2-2026</a:t>
                      </a:r>
                    </a:p>
                  </a:txBody>
                  <a:tcPr marL="45720" marR="45720" marT="18288" marB="18288">
                    <a:solidFill>
                      <a:srgbClr val="4F81BD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[Business to complete]</a:t>
                      </a: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</a:p>
                  </a:txBody>
                  <a:tcPr marL="45720" marR="45720" marT="18288" marB="18288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F7F7F"/>
                </a:solidFill>
              </a:defRPr>
            </a:pPr>
            <a:r>
              <a:t>Training data only - Zava Safety and all businesses and numbers are fictitious.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