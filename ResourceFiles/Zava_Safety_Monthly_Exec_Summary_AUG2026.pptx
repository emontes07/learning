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Relationship Id="rId5" Type="http://schemas.microsoft.com/office/2020/02/relationships/classificationlabels" Target="docMetadata/LabelInfo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Monthly Commentary - Zava Safety -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Sales </a:t>
            </a:r>
            <a:r>
              <a:rPr sz="1400"/>
              <a:t>102% of BUD and 108% of PY, driven by core product pricing at Falcon (109% of BUD, +$0.7m) and Beacon surveyor vests (107%), plus nitrile inflation at Alder. Partly offset by backorders at Ember (94%) and the low-cost strategy at Granite (95%).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GM% </a:t>
            </a:r>
            <a:r>
              <a:rPr sz="1400"/>
              <a:t>c.47bps&lt;BUD from nitrile cost volatility at Alder (262bps&lt;BUD) and price investment at Granite (176bps&lt;BUD), partially offset by pricing gains at Beacon and Falcon (both c.170bps&gt;BUD). Similar drivers vs PY (50bps decline).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OpEx% </a:t>
            </a:r>
            <a:r>
              <a:rPr sz="1400"/>
              <a:t>10bps&lt;BUD; one-time consulting fees at Cobalt and expedited freight at Granite were more than offset by restructuring savings at Hollis and sales leverage. 60bps&lt;PY on c.$3.7m additional sales.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Capital Employed </a:t>
            </a:r>
            <a:r>
              <a:rPr sz="1400"/>
              <a:t>$130.7m, $9.3m lower than BUD and $15.2m lower than PY, mainly from inventory reduction (improved forecasting and demand planning).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977639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1645920"/>
                <a:gridCol w="1645920"/>
                <a:gridCol w="1645920"/>
              </a:tblGrid>
              <a:tr h="326571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August 2026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BUD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PY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Sales ($m)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$52.7m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$51.7m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+1.0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$49.0m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+3.7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-47bps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-50bps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OpEx % of Sales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21.6%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-10bps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22.2%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-60bps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$4.9m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$5.0m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-37bps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9.2%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+10bps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Capital Employed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$130.7m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$140.0m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$146.0m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YTD Commentary - Zava Safety - YTD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6BB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595959"/>
                </a:solidFill>
              </a:defRPr>
            </a:pPr>
            <a:r>
              <a:t>Training data only - Zava Safety and all businesses and numbers are fictitious.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Sales </a:t>
            </a:r>
            <a:r>
              <a:rPr sz="1400"/>
              <a:t>102% ($7.9m) of BUD driven by pricing at Falcon (109%) and Beacon (105%) and nitrile volumes and inflation at Alder (104%). 107% of PY driven by inflation and c.2% volume gains.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GM% </a:t>
            </a:r>
            <a:r>
              <a:rPr sz="1400"/>
              <a:t>9bps&lt;BUD and 9bps&lt;PY: mix and pricing benefit at Beacon and Falcon offset by nitrile margin compression at Alder since June and the Granite low-cost strategy.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OpEx% </a:t>
            </a:r>
            <a:r>
              <a:rPr sz="1400"/>
              <a:t>24bps&lt;BUD and 62bps&lt;PY, driven by Hollis restructuring savings and sales leverage; holding roles open has limited wage inflation.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83A5D"/>
                </a:solidFill>
              </a:rPr>
              <a:t>Capital Employed </a:t>
            </a:r>
            <a:r>
              <a:rPr sz="1400"/>
              <a:t>$9.3m lower than BUD and $15.2m lower than PY from targeted inventory reduction.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977639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  <a:gridCol w="1645920"/>
                <a:gridCol w="1645920"/>
                <a:gridCol w="1645920"/>
              </a:tblGrid>
              <a:tr h="326571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YTD August 2026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BUD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 PY</a:t>
                      </a:r>
                    </a:p>
                  </a:txBody>
                  <a:tcPr>
                    <a:solidFill>
                      <a:srgbClr val="183A5D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Sales ($m)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$420.7m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$412.8m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+7.9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$393.9m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+26.9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-9bps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-9bps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OpEx % of Sales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21.5%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-24bps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22.1%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-62bps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$41.4m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$40.0m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$36.6m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PBITA 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+15bps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+53bps</a:t>
                      </a:r>
                    </a:p>
                  </a:txBody>
                  <a:tcPr>
                    <a:solidFill>
                      <a:srgbClr val="DDE6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Capital Employed ($m)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$130.7m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$140.0m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$146.0m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