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docMetadata/LabelInfo.xml" ContentType="application/vnd.ms-office.classificationlabel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thumbnail" Target="docProps/thumbnail.jpeg" /><Relationship Id="rId3" Type="http://schemas.openxmlformats.org/package/2006/relationships/metadata/core-properties" Target="docProps/core.xml" /><Relationship Id="rId4" Type="http://schemas.openxmlformats.org/officeDocument/2006/relationships/extended-properties" Target="docProps/app.xml" /><Relationship Id="rId5" Type="http://schemas.microsoft.com/office/2020/02/relationships/classificationlabels" Target="docMetadata/LabelInfo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83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Monthly Commentary - Zava Safety - September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6BB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595959"/>
                </a:solidFill>
              </a:defRPr>
            </a:pPr>
            <a:r>
              <a:t>Training data only - Zava Safety and all businesses and numbers are fictitious.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60120"/>
            <a:ext cx="11430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400">
                <a:solidFill>
                  <a:srgbClr val="183A5D"/>
                </a:solidFill>
              </a:rPr>
              <a:t>Sales </a:t>
            </a:r>
            <a:r>
              <a:rPr sz="1400"/>
              <a:t>[Draft with Copilot - Sales vs BUD and PY, and the businesses driving it]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183A5D"/>
                </a:solidFill>
              </a:rPr>
              <a:t>GM% </a:t>
            </a:r>
            <a:r>
              <a:rPr sz="1400"/>
              <a:t>[Draft with Copilot - GM% vs BUD and PY in bps, with drivers by business]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183A5D"/>
                </a:solidFill>
              </a:rPr>
              <a:t>OpEx% </a:t>
            </a:r>
            <a:r>
              <a:rPr sz="1400"/>
              <a:t>[Draft with Copilot - OpEx% vs BUD and PY in bps, with drivers]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183A5D"/>
                </a:solidFill>
              </a:rPr>
              <a:t>Capital Employed </a:t>
            </a:r>
            <a:r>
              <a:rPr sz="1400"/>
              <a:t>[Draft with Copilot - vs BUD and PY, with drivers]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3977639"/>
          <a:ext cx="11430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645920"/>
                <a:gridCol w="1645920"/>
                <a:gridCol w="1645920"/>
                <a:gridCol w="1645920"/>
                <a:gridCol w="1645920"/>
              </a:tblGrid>
              <a:tr h="326571">
                <a:tc>
                  <a:txBody>
                    <a:bodyPr/>
                    <a:lstStyle/>
                    <a:p>
                      <a:pPr algn="l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September 2026</a:t>
                      </a:r>
                    </a:p>
                  </a:txBody>
                  <a:tcPr>
                    <a:solidFill>
                      <a:srgbClr val="183A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Actual</a:t>
                      </a:r>
                    </a:p>
                  </a:txBody>
                  <a:tcPr>
                    <a:solidFill>
                      <a:srgbClr val="183A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Budget</a:t>
                      </a:r>
                    </a:p>
                  </a:txBody>
                  <a:tcPr>
                    <a:solidFill>
                      <a:srgbClr val="183A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vs BUD</a:t>
                      </a:r>
                    </a:p>
                  </a:txBody>
                  <a:tcPr>
                    <a:solidFill>
                      <a:srgbClr val="183A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Prior Year</a:t>
                      </a:r>
                    </a:p>
                  </a:txBody>
                  <a:tcPr>
                    <a:solidFill>
                      <a:srgbClr val="183A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vs PY</a:t>
                      </a:r>
                    </a:p>
                  </a:txBody>
                  <a:tcPr>
                    <a:solidFill>
                      <a:srgbClr val="183A5D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Sales ($m)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$53.6m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$50.6m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+3.0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$48.5m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+5.1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Gross Margin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29.7%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31.4%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-172bps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31.4%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-170bps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OpEx % of Sales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20.4%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21.7%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-133bps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22.1%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-164bps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PBITA ($m)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$5.0m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$4.9m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+0.1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$4.5m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+0.5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PBITA %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9.3%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9.7%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-39bps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9.3%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-5bps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</a:tr>
              <a:tr h="326574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Capital Employed ($m)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$133.2m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$137.4m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-4.2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$145.2m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-12.1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83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YTD Commentary - Zava Safety - YTD September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6BB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595959"/>
                </a:solidFill>
              </a:defRPr>
            </a:pPr>
            <a:r>
              <a:t>Training data only - Zava Safety and all businesses and numbers are fictitious.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60120"/>
            <a:ext cx="11430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400">
                <a:solidFill>
                  <a:srgbClr val="183A5D"/>
                </a:solidFill>
              </a:rPr>
              <a:t>Sales </a:t>
            </a:r>
            <a:r>
              <a:rPr sz="1400"/>
              <a:t>[Draft with Copilot - Sales vs BUD and PY, and the businesses driving it]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183A5D"/>
                </a:solidFill>
              </a:rPr>
              <a:t>GM% </a:t>
            </a:r>
            <a:r>
              <a:rPr sz="1400"/>
              <a:t>[Draft with Copilot - GM% vs BUD and PY in bps, with drivers by business]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183A5D"/>
                </a:solidFill>
              </a:rPr>
              <a:t>OpEx% </a:t>
            </a:r>
            <a:r>
              <a:rPr sz="1400"/>
              <a:t>[Draft with Copilot - OpEx% vs BUD and PY in bps, with drivers]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183A5D"/>
                </a:solidFill>
              </a:rPr>
              <a:t>Capital Employed </a:t>
            </a:r>
            <a:r>
              <a:rPr sz="1400"/>
              <a:t>[Draft with Copilot - vs BUD and PY, with drivers]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3977639"/>
          <a:ext cx="11430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645920"/>
                <a:gridCol w="1645920"/>
                <a:gridCol w="1645920"/>
                <a:gridCol w="1645920"/>
                <a:gridCol w="1645920"/>
              </a:tblGrid>
              <a:tr h="326571">
                <a:tc>
                  <a:txBody>
                    <a:bodyPr/>
                    <a:lstStyle/>
                    <a:p>
                      <a:pPr algn="l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YTD September 2026</a:t>
                      </a:r>
                    </a:p>
                  </a:txBody>
                  <a:tcPr>
                    <a:solidFill>
                      <a:srgbClr val="183A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Actual</a:t>
                      </a:r>
                    </a:p>
                  </a:txBody>
                  <a:tcPr>
                    <a:solidFill>
                      <a:srgbClr val="183A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Budget</a:t>
                      </a:r>
                    </a:p>
                  </a:txBody>
                  <a:tcPr>
                    <a:solidFill>
                      <a:srgbClr val="183A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vs BUD</a:t>
                      </a:r>
                    </a:p>
                  </a:txBody>
                  <a:tcPr>
                    <a:solidFill>
                      <a:srgbClr val="183A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Prior Year</a:t>
                      </a:r>
                    </a:p>
                  </a:txBody>
                  <a:tcPr>
                    <a:solidFill>
                      <a:srgbClr val="183A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vs PY</a:t>
                      </a:r>
                    </a:p>
                  </a:txBody>
                  <a:tcPr>
                    <a:solidFill>
                      <a:srgbClr val="183A5D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Sales ($m)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$474.4m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$463.4m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+10.9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$442.4m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+32.0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Gross Margin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31.1%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31.4%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-28bps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31.4%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-27bps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OpEx % of Sales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21.4%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21.7%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-37bps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22.1%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-74bps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PBITA ($m)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$46.3m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$44.9m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+1.5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$41.2m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+5.2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PBITA %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9.8%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9.7%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+9bps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9.3%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+47bps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</a:tr>
              <a:tr h="326574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Capital Employed ($m)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$133.2m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$137.4m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-4.2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$145.2m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-12.1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